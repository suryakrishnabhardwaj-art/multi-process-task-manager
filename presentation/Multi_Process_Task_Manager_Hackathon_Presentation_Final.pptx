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822960"/>
            <a:ext cx="1005840" cy="1005840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645920"/>
            <a:ext cx="502920" cy="502920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2103120"/>
            <a:ext cx="310896" cy="310896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2743200"/>
            <a:ext cx="731520" cy="731520"/>
          </a:xfrm>
          <a:prstGeom prst="ellipse">
            <a:avLst/>
          </a:prstGeom>
          <a:solidFill>
            <a:srgbClr val="18283F"/>
          </a:solidFill>
          <a:ln>
            <a:solidFill>
              <a:srgbClr val="18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621792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18283F"/>
          </a:solidFill>
          <a:ln>
            <a:solidFill>
              <a:srgbClr val="18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704088"/>
            <a:ext cx="190195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2DD4BF"/>
                </a:solidFill>
                <a:latin typeface="Aptos"/>
              </a:rPr>
              <a:t>HACKATHON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7863840" cy="1572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600" b="1" i="0">
                <a:solidFill>
                  <a:srgbClr val="F5F8FC"/>
                </a:solidFill>
                <a:latin typeface="Aptos"/>
              </a:rPr>
              <a:t>Multi-Process
Task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46120"/>
            <a:ext cx="80467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AEBDD0"/>
                </a:solidFill>
                <a:latin typeface="Aptos"/>
              </a:rPr>
              <a:t>A lightweight Linux process viewer and controller built in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508760" cy="402336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215384"/>
            <a:ext cx="139903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2DD4BF"/>
                </a:solidFill>
                <a:latin typeface="Aptos"/>
              </a:rPr>
              <a:t>LINUX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114800"/>
            <a:ext cx="1508760" cy="402336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4215384"/>
            <a:ext cx="139903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  <a:latin typeface="Aptos"/>
              </a:rPr>
              <a:t>C / GCC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114800"/>
            <a:ext cx="1508760" cy="402336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3" y="4215384"/>
            <a:ext cx="139903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ptos"/>
              </a:rPr>
              <a:t>GNU MAKE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4114800"/>
            <a:ext cx="1508760" cy="402336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1304" y="4215384"/>
            <a:ext cx="139903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4ADE80"/>
                </a:solidFill>
                <a:latin typeface="Aptos"/>
              </a:rPr>
              <a:t>/proc +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1828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AEBDD0"/>
                </a:solidFill>
                <a:latin typeface="Aptos"/>
              </a:rPr>
              <a:t>Source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66944"/>
            <a:ext cx="87782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ptos"/>
              </a:rPr>
              <a:t>github.com/suryakrishnabhardwaj-art/Multi-Process-Task-Manager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33872"/>
            <a:ext cx="96926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AEBDD0"/>
                </a:solidFill>
                <a:latin typeface="Aptos"/>
              </a:rPr>
              <a:t>TEAM: Chaitanya (2520090094)  •  Bhardwaj (2520090182)  •  Salman (2520089070)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26480"/>
            <a:ext cx="7680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AEBDD0"/>
                </a:solidFill>
                <a:latin typeface="Aptos"/>
              </a:rPr>
              <a:t>Faculty / Mentor: Mrs. Alekhya Dasari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Problem Statement &amp;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0292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The assigned challenge: display process information and control a selected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AEBDD0"/>
                </a:solidFill>
                <a:latin typeface="Aptos"/>
              </a:rPr>
              <a:t>MULTI-PROCESS TASK MANAGER  •  LINUX /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83096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5257800" cy="1874519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10512"/>
            <a:ext cx="50292" cy="1545336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10512"/>
            <a:ext cx="48737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5F8FC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67712"/>
            <a:ext cx="4873752" cy="1124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AEBDD0"/>
                </a:solidFill>
                <a:latin typeface="Aptos"/>
              </a:rPr>
              <a:t>Linux can run many processes at once. A user needs a simple terminal tool to inspect process IDs, states, and memory, then manage a selected process.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45920"/>
            <a:ext cx="5321808" cy="1874519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810512"/>
            <a:ext cx="50292" cy="1545336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10512"/>
            <a:ext cx="49377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5F8FC"/>
                </a:solidFill>
                <a:latin typeface="Aptos"/>
              </a:rP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67712"/>
            <a:ext cx="4937760" cy="1124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AEBDD0"/>
                </a:solidFill>
                <a:latin typeface="Aptos"/>
              </a:rPr>
              <a:t>A small menu-driven C program that reads process details from /proc and sends standard signals to a selected PID, subject to OS permissions.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005072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Aptos"/>
              </a:rPr>
              <a:t>DESIGN PRINCIPLES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07408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90288"/>
            <a:ext cx="47548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100" b="1" i="0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562856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Lightweight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892040"/>
            <a:ext cx="2423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EBDD0"/>
                </a:solidFill>
                <a:latin typeface="Aptos"/>
              </a:rPr>
              <a:t>Terminal interface; no heavy GUI framework.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407408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4590288"/>
            <a:ext cx="47548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100" b="1" i="0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4562856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Linux-native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4892040"/>
            <a:ext cx="2423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EBDD0"/>
                </a:solidFill>
                <a:latin typeface="Aptos"/>
              </a:rPr>
              <a:t>Uses /proc and POSIX signal APIs.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407408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4590288"/>
            <a:ext cx="47548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100" b="1" i="0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4562856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Demonstrable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4892040"/>
            <a:ext cx="2423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EBDD0"/>
                </a:solidFill>
                <a:latin typeface="Aptos"/>
              </a:rPr>
              <a:t>Validated with a dedicated sleep test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Objectives &amp;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0292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Core features implemented and exercised in the Ubuntu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AEBDD0"/>
                </a:solidFill>
                <a:latin typeface="Aptos"/>
              </a:rPr>
              <a:t>MULTI-PROCESS TASK MANAGER  •  LINUX /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83096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502152" cy="157276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50292" cy="124358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311810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Process listing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86000"/>
            <a:ext cx="3118104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Scans numeric entries in /proc and displays PID, state, RSS memory, and name.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64208"/>
            <a:ext cx="3502152" cy="157276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828800"/>
            <a:ext cx="50292" cy="1243584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7" y="1828800"/>
            <a:ext cx="311810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Selected-process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286000"/>
            <a:ext cx="3118104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Looks up a chosen PID and displays its name, state, and memory.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664208"/>
            <a:ext cx="3502152" cy="157276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1828800"/>
            <a:ext cx="50292" cy="1243584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828800"/>
            <a:ext cx="311810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Stop / continue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3118104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Uses SIGSTOP to stop a process and SIGCONT to resume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02736"/>
            <a:ext cx="3502152" cy="157276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67328"/>
            <a:ext cx="50292" cy="1243584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767328"/>
            <a:ext cx="311810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Termination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24528"/>
            <a:ext cx="3118104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Uses SIGTERM to request graceful termination.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602736"/>
            <a:ext cx="3502152" cy="157276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767328"/>
            <a:ext cx="50292" cy="1243584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7" y="3767328"/>
            <a:ext cx="311810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Input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7" y="4224528"/>
            <a:ext cx="3118104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Checks numeric menu/PID input to avoid the earlier ignored-scanf warnings.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3602736"/>
            <a:ext cx="3502152" cy="157276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02752" y="3767328"/>
            <a:ext cx="50292" cy="124358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767328"/>
            <a:ext cx="311810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Build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224528"/>
            <a:ext cx="3118104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Makefile compiles with gcc -Wall -Wextra -O2.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715000"/>
            <a:ext cx="10789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AEBDD0"/>
                </a:solidFill>
                <a:latin typeface="Aptos"/>
              </a:rPr>
              <a:t>Memory shown is resident set size (VmRSS), reported in KB by /proc/&lt;PID&gt;/status.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System Design &amp; Execution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0292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High-level architecture of the menu-driven task manager.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AEBDD0"/>
                </a:solidFill>
                <a:latin typeface="Aptos"/>
              </a:rPr>
              <a:t>MULTI-PROCESS TASK MANAGER  •  LINUX /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83096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2057400" cy="868680"/>
          </a:xfrm>
          <a:prstGeom prst="roundRect">
            <a:avLst>
              <a:gd name="adj" fmla="val 12000"/>
            </a:avLst>
          </a:prstGeom>
          <a:solidFill>
            <a:srgbClr val="18283F"/>
          </a:solidFill>
          <a:ln>
            <a:solidFill>
              <a:srgbClr val="18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29384"/>
            <a:ext cx="1837943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2DD4BF"/>
                </a:solidFill>
                <a:latin typeface="Aptos"/>
              </a:rPr>
              <a:t>USER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40280"/>
            <a:ext cx="1837943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F5F8FC"/>
                </a:solidFill>
                <a:latin typeface="Aptos"/>
              </a:rPr>
              <a:t>Main menu / PID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8308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18283F"/>
          </a:solidFill>
          <a:ln>
            <a:solidFill>
              <a:srgbClr val="18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929384"/>
            <a:ext cx="2066543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60A5FA"/>
                </a:solidFill>
                <a:latin typeface="Aptos"/>
              </a:rPr>
              <a:t>MENU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240280"/>
            <a:ext cx="2066543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F5F8FC"/>
                </a:solidFill>
                <a:latin typeface="Aptos"/>
              </a:rPr>
              <a:t>Display or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78308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18283F"/>
          </a:solidFill>
          <a:ln>
            <a:solidFill>
              <a:srgbClr val="18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29384"/>
            <a:ext cx="2112263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ptos"/>
              </a:rPr>
              <a:t>PROCESS READER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40280"/>
            <a:ext cx="2112263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F5F8FC"/>
                </a:solidFill>
                <a:latin typeface="Aptos"/>
              </a:rPr>
              <a:t>Reads /proc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78308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18283F"/>
          </a:solidFill>
          <a:ln>
            <a:solidFill>
              <a:srgbClr val="18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7" y="1929384"/>
            <a:ext cx="229514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Aptos"/>
              </a:rPr>
              <a:t>TERMINAL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7" y="2240280"/>
            <a:ext cx="229514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F5F8FC"/>
                </a:solidFill>
                <a:latin typeface="Aptos"/>
              </a:rPr>
              <a:t>Table / details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24912" y="2212848"/>
            <a:ext cx="45720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41264" y="2212848"/>
            <a:ext cx="493776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58200" y="2212848"/>
            <a:ext cx="484632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51560" y="3657600"/>
            <a:ext cx="2834640" cy="1051560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3831336"/>
            <a:ext cx="25146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2DD4BF"/>
                </a:solidFill>
                <a:latin typeface="Aptos"/>
              </a:rPr>
              <a:t>CONTROL SELECTED PID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178808"/>
            <a:ext cx="2514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AEBDD0"/>
                </a:solidFill>
                <a:latin typeface="Aptos"/>
              </a:rPr>
              <a:t>PID check + permission check by 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3657600"/>
            <a:ext cx="2834640" cy="1051560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3831336"/>
            <a:ext cx="25146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"/>
              </a:rPr>
              <a:t>kill(pid, signal)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4178808"/>
            <a:ext cx="2514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AEBDD0"/>
                </a:solidFill>
                <a:latin typeface="Aptos"/>
              </a:rPr>
              <a:t>Linux process-control interface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3657600"/>
            <a:ext cx="2834640" cy="1051560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7" y="3831336"/>
            <a:ext cx="25146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  <a:latin typeface="Aptos"/>
              </a:rPr>
              <a:t>SIGNAL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4178808"/>
            <a:ext cx="2514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F5F8FC"/>
                </a:solidFill>
                <a:latin typeface="Aptos"/>
              </a:rPr>
              <a:t>SIGTERM • SIGSTOP • SIGCONT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31920" y="4187952"/>
            <a:ext cx="612648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98079" y="4187952"/>
            <a:ext cx="612648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9808" y="5349240"/>
            <a:ext cx="10789920" cy="521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Data source: /proc/&lt;PID&gt;/comm and /proc/&lt;PID&gt;/status. Control operations are limited by operating-system permissions.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Implementation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0292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The prototype uses standard Linux facilities rather than a separate process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AEBDD0"/>
                </a:solidFill>
                <a:latin typeface="Aptos"/>
              </a:rPr>
              <a:t>MULTI-PROCESS TASK MANAGER  •  LINUX /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83096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64208"/>
            <a:ext cx="5074920" cy="4160520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Aptos"/>
              </a:rP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304288"/>
            <a:ext cx="4526280" cy="2880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1500" b="1">
                <a:solidFill>
                  <a:srgbClr val="2DD4BF"/>
                </a:solidFill>
                <a:latin typeface="Aptos"/>
              </a:rPr>
              <a:t>C: </a:t>
            </a:r>
            <a:r>
              <a:rPr sz="1500">
                <a:solidFill>
                  <a:srgbClr val="F5F8FC"/>
                </a:solidFill>
                <a:latin typeface="Aptos"/>
              </a:rPr>
              <a:t>core program and menu logic</a:t>
            </a:r>
          </a:p>
          <a:p>
            <a:pPr>
              <a:spcAft>
                <a:spcPts val="13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1500" b="1">
                <a:solidFill>
                  <a:srgbClr val="2DD4BF"/>
                </a:solidFill>
                <a:latin typeface="Aptos"/>
              </a:rPr>
              <a:t>GCC: </a:t>
            </a:r>
            <a:r>
              <a:rPr sz="1500">
                <a:solidFill>
                  <a:srgbClr val="F5F8FC"/>
                </a:solidFill>
                <a:latin typeface="Aptos"/>
              </a:rPr>
              <a:t>compilation with warning checks</a:t>
            </a:r>
          </a:p>
          <a:p>
            <a:pPr>
              <a:spcAft>
                <a:spcPts val="13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1500" b="1">
                <a:solidFill>
                  <a:srgbClr val="2DD4BF"/>
                </a:solidFill>
                <a:latin typeface="Aptos"/>
              </a:rPr>
              <a:t>GNU Make: </a:t>
            </a:r>
            <a:r>
              <a:rPr sz="1500">
                <a:solidFill>
                  <a:srgbClr val="F5F8FC"/>
                </a:solidFill>
                <a:latin typeface="Aptos"/>
              </a:rPr>
              <a:t>repeatable build commands</a:t>
            </a:r>
          </a:p>
          <a:p>
            <a:pPr>
              <a:spcAft>
                <a:spcPts val="13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1500" b="1">
                <a:solidFill>
                  <a:srgbClr val="2DD4BF"/>
                </a:solidFill>
                <a:latin typeface="Aptos"/>
              </a:rPr>
              <a:t>Linux /proc: </a:t>
            </a:r>
            <a:r>
              <a:rPr sz="1500">
                <a:solidFill>
                  <a:srgbClr val="F5F8FC"/>
                </a:solidFill>
                <a:latin typeface="Aptos"/>
              </a:rPr>
              <a:t>process names, states, memory</a:t>
            </a:r>
          </a:p>
          <a:p>
            <a:pPr>
              <a:spcAft>
                <a:spcPts val="13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1500" b="1">
                <a:solidFill>
                  <a:srgbClr val="2DD4BF"/>
                </a:solidFill>
                <a:latin typeface="Aptos"/>
              </a:rPr>
              <a:t>POSIX signals: </a:t>
            </a:r>
            <a:r>
              <a:rPr sz="1500">
                <a:solidFill>
                  <a:srgbClr val="F5F8FC"/>
                </a:solidFill>
                <a:latin typeface="Aptos"/>
              </a:rPr>
              <a:t>stop, continue, terminate request</a:t>
            </a:r>
          </a:p>
          <a:p>
            <a:pPr>
              <a:spcAft>
                <a:spcPts val="13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1500" b="1">
                <a:solidFill>
                  <a:srgbClr val="2DD4BF"/>
                </a:solidFill>
                <a:latin typeface="Aptos"/>
              </a:rPr>
              <a:t>Git + GitHub: </a:t>
            </a:r>
            <a:r>
              <a:rPr sz="1500">
                <a:solidFill>
                  <a:srgbClr val="F5F8FC"/>
                </a:solidFill>
                <a:latin typeface="Aptos"/>
              </a:rPr>
              <a:t>source history and submission repo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664208"/>
            <a:ext cx="5321808" cy="4160520"/>
          </a:xfrm>
          <a:prstGeom prst="roundRect">
            <a:avLst>
              <a:gd name="adj" fmla="val 12000"/>
            </a:avLst>
          </a:prstGeom>
          <a:solidFill>
            <a:srgbClr val="070D18"/>
          </a:solidFill>
          <a:ln>
            <a:solidFill>
              <a:srgbClr val="070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Aptos"/>
              </a:rPr>
              <a:t>BUILD &amp;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13432"/>
            <a:ext cx="4617720" cy="2468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F5F8FC"/>
                </a:solidFill>
                <a:latin typeface="Consolas"/>
              </a:rPr>
              <a:t>$ make clean
$ make
$ ./task_manager
Control signals:
SIGTERM  request exit
SIGSTOP  stop process
SIGCONT  resume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5257800"/>
            <a:ext cx="4297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EBDD0"/>
                </a:solidFill>
                <a:latin typeface="Aptos"/>
              </a:rPr>
              <a:t>Build flags: -Wall -Wextra -O2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Process-Control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0292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Observed using a separate test process: sleep 300 &amp; (sample PID 474).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AEBDD0"/>
                </a:solidFill>
                <a:latin typeface="Aptos"/>
              </a:rPr>
              <a:t>MULTI-PROCESS TASK MANAGER  •  LINUX /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83096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74519"/>
            <a:ext cx="2331720" cy="129844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79"/>
            <a:ext cx="20574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3000" b="1" i="0">
                <a:solidFill>
                  <a:srgbClr val="60A5FA"/>
                </a:solidFill>
                <a:latin typeface="Aptos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24327"/>
            <a:ext cx="2148839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Sleeping / 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98648"/>
            <a:ext cx="2148839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AEBDD0"/>
                </a:solidFill>
                <a:latin typeface="Aptos"/>
              </a:rPr>
              <a:t>Before stop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874519"/>
            <a:ext cx="2331720" cy="129844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2011679"/>
            <a:ext cx="20574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  <a:latin typeface="Aptos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24327"/>
            <a:ext cx="2148839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Stopped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98648"/>
            <a:ext cx="2148839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AEBDD0"/>
                </a:solidFill>
                <a:latin typeface="Aptos"/>
              </a:rPr>
              <a:t>After SIGSTOP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874519"/>
            <a:ext cx="2331720" cy="129844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011679"/>
            <a:ext cx="20574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3000" b="1" i="0">
                <a:solidFill>
                  <a:srgbClr val="4ADE80"/>
                </a:solidFill>
                <a:latin typeface="Aptos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624327"/>
            <a:ext cx="2148839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Continued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898648"/>
            <a:ext cx="2148839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AEBDD0"/>
                </a:solidFill>
                <a:latin typeface="Aptos"/>
              </a:rPr>
              <a:t>After SIGCONT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91840" y="2523744"/>
            <a:ext cx="1536192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01568" y="2139696"/>
            <a:ext cx="13533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2DD4BF"/>
                </a:solidFill>
                <a:latin typeface="Aptos"/>
              </a:rPr>
              <a:t>SIGSTOP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88352" y="2523744"/>
            <a:ext cx="150876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79792" y="2139696"/>
            <a:ext cx="13350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2DD4BF"/>
                </a:solidFill>
                <a:latin typeface="Aptos"/>
              </a:rPr>
              <a:t>SIGCONT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3977639"/>
            <a:ext cx="10287000" cy="1143000"/>
          </a:xfrm>
          <a:prstGeom prst="roundRect">
            <a:avLst>
              <a:gd name="adj" fmla="val 12000"/>
            </a:avLst>
          </a:prstGeom>
          <a:solidFill>
            <a:srgbClr val="18283F"/>
          </a:solidFill>
          <a:ln>
            <a:solidFill>
              <a:srgbClr val="18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187952"/>
            <a:ext cx="2240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Aptos"/>
              </a:rPr>
              <a:t>TERMINATION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4114800"/>
            <a:ext cx="7452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ptos"/>
              </a:rPr>
              <a:t>SIGTERM was sent. A second terminal showed the sleep job as terminated; subsequent pgrep sleep returned no PID.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605272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AEBDD0"/>
                </a:solidFill>
                <a:latin typeface="Aptos"/>
              </a:rPr>
              <a:t>PID and memory figures are example values from one test run; PIDs and memory vary between runs.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Testing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0292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Tests run in Ubuntu on the compiled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AEBDD0"/>
                </a:solidFill>
                <a:latin typeface="Aptos"/>
              </a:rPr>
              <a:t>MULTI-PROCESS TASK MANAGER  •  LINUX /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83096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91640"/>
            <a:ext cx="2834640" cy="512064"/>
          </a:xfrm>
          <a:prstGeom prst="roundRect">
            <a:avLst>
              <a:gd name="adj" fmla="val 12000"/>
            </a:avLst>
          </a:prstGeom>
          <a:solidFill>
            <a:srgbClr val="18283F"/>
          </a:solidFill>
          <a:ln>
            <a:solidFill>
              <a:srgbClr val="18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47088"/>
            <a:ext cx="261518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Aptos"/>
              </a:rPr>
              <a:t>TEST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1691640"/>
            <a:ext cx="5120640" cy="512064"/>
          </a:xfrm>
          <a:prstGeom prst="roundRect">
            <a:avLst>
              <a:gd name="adj" fmla="val 12000"/>
            </a:avLst>
          </a:prstGeom>
          <a:solidFill>
            <a:srgbClr val="18283F"/>
          </a:solidFill>
          <a:ln>
            <a:solidFill>
              <a:srgbClr val="18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1847088"/>
            <a:ext cx="4901183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Aptos"/>
              </a:rPr>
              <a:t>EXPECTED / OBSERVED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05088" y="1691640"/>
            <a:ext cx="1828800" cy="512064"/>
          </a:xfrm>
          <a:prstGeom prst="roundRect">
            <a:avLst>
              <a:gd name="adj" fmla="val 12000"/>
            </a:avLst>
          </a:prstGeom>
          <a:solidFill>
            <a:srgbClr val="18283F"/>
          </a:solidFill>
          <a:ln>
            <a:solidFill>
              <a:srgbClr val="18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14815" y="1847088"/>
            <a:ext cx="160934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Aptos"/>
              </a:rPr>
              <a:t>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295144"/>
            <a:ext cx="2834640" cy="56692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414016"/>
            <a:ext cx="261518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Compile with Makefile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84448" y="2295144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2414016"/>
            <a:ext cx="4901183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EBDD0"/>
                </a:solidFill>
                <a:latin typeface="Aptos"/>
              </a:rPr>
              <a:t>Build completes with no warnings after input-validation fix.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05088" y="2295144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14815" y="2468880"/>
            <a:ext cx="160934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Aptos"/>
              </a:rPr>
              <a:t>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2953512"/>
            <a:ext cx="2834640" cy="566928"/>
          </a:xfrm>
          <a:prstGeom prst="roundRect">
            <a:avLst>
              <a:gd name="adj" fmla="val 12000"/>
            </a:avLst>
          </a:prstGeom>
          <a:solidFill>
            <a:srgbClr val="0E1829"/>
          </a:solidFill>
          <a:ln>
            <a:solidFill>
              <a:srgbClr val="0E1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072384"/>
            <a:ext cx="261518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Display processes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84448" y="2953512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0E1829"/>
          </a:solidFill>
          <a:ln>
            <a:solidFill>
              <a:srgbClr val="0E1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94176" y="3072384"/>
            <a:ext cx="4901183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EBDD0"/>
                </a:solidFill>
                <a:latin typeface="Aptos"/>
              </a:rPr>
              <a:t>Process table shows PID, state, RSS memory, and name.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05088" y="2953512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0E1829"/>
          </a:solidFill>
          <a:ln>
            <a:solidFill>
              <a:srgbClr val="0E1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14815" y="3127248"/>
            <a:ext cx="160934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Aptos"/>
              </a:rPr>
              <a:t>PASS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611880"/>
            <a:ext cx="2834640" cy="56692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730752"/>
            <a:ext cx="261518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View selected PID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84448" y="3611880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4176" y="3730752"/>
            <a:ext cx="4901183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EBDD0"/>
                </a:solidFill>
                <a:latin typeface="Aptos"/>
              </a:rPr>
              <a:t>sleep process details displayed.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05088" y="361188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14815" y="3785616"/>
            <a:ext cx="160934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Aptos"/>
              </a:rPr>
              <a:t>PASS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4270248"/>
            <a:ext cx="2834640" cy="566928"/>
          </a:xfrm>
          <a:prstGeom prst="roundRect">
            <a:avLst>
              <a:gd name="adj" fmla="val 12000"/>
            </a:avLst>
          </a:prstGeom>
          <a:solidFill>
            <a:srgbClr val="0E1829"/>
          </a:solidFill>
          <a:ln>
            <a:solidFill>
              <a:srgbClr val="0E1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389120"/>
            <a:ext cx="261518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Stop / continue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84448" y="4270248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0E1829"/>
          </a:solidFill>
          <a:ln>
            <a:solidFill>
              <a:srgbClr val="0E1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4176" y="4389120"/>
            <a:ext cx="4901183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EBDD0"/>
                </a:solidFill>
                <a:latin typeface="Aptos"/>
              </a:rPr>
              <a:t>SIGSTOP and SIGCONT both sent successfully; state was checked.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05088" y="4270248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0E1829"/>
          </a:solidFill>
          <a:ln>
            <a:solidFill>
              <a:srgbClr val="0E1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14815" y="4443984"/>
            <a:ext cx="160934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Aptos"/>
              </a:rPr>
              <a:t>PASS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4928616"/>
            <a:ext cx="2834640" cy="56692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5047488"/>
            <a:ext cx="261518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Terminate test process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84448" y="4928616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94176" y="5047488"/>
            <a:ext cx="4901183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EBDD0"/>
                </a:solidFill>
                <a:latin typeface="Aptos"/>
              </a:rPr>
              <a:t>SIGTERM sent; pgrep showed no process afterward.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05088" y="4928616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14815" y="5102352"/>
            <a:ext cx="160934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Aptos"/>
              </a:rP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" y="5760720"/>
            <a:ext cx="10789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AEBDD0"/>
                </a:solidFill>
                <a:latin typeface="Aptos"/>
              </a:rPr>
              <a:t>Testing was intentionally performed on a user-created sleep process, not by terminating critical system processes.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Safety, 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0292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Honest scope statement: current version is a functional prototype, not a full production task manager.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AEBDD0"/>
                </a:solidFill>
                <a:latin typeface="Aptos"/>
              </a:rPr>
              <a:t>MULTI-PROCESS TASK MANAGER  •  LINUX /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83096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19072"/>
            <a:ext cx="5166360" cy="1874519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83664"/>
            <a:ext cx="50292" cy="1545336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83664"/>
            <a:ext cx="47823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CURRENT SAFETY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4782312" cy="1124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EBDD0"/>
                </a:solidFill>
                <a:latin typeface="Aptos"/>
              </a:rPr>
              <a:t>Rejects PID values ≤ 1 and its own PID, checks the target UID against the current user, and asks for confirmation before SIGTERM. Use self-created demo processes; OS permissions still apply.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19072"/>
            <a:ext cx="5257800" cy="1874519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83664"/>
            <a:ext cx="50292" cy="1545336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83664"/>
            <a:ext cx="48737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CURRENT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340864"/>
            <a:ext cx="4873752" cy="1124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EBDD0"/>
                </a:solidFill>
                <a:latin typeface="Aptos"/>
              </a:rPr>
              <a:t>No sorting/pagination or CPU-utilization display. A successful signal call means the signal was sent, not necessarily that the process has exited; PID-reuse races are not fully eliminated.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Aptos"/>
              </a:rPr>
              <a:t>RECOMMENDED NEXT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9704"/>
            <a:ext cx="182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9704"/>
            <a:ext cx="9875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Improve PID revalidation to reduce PID-reuse race risks.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182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46320"/>
            <a:ext cx="9875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Improve diagnostics for permission errors and disappearing processes.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02936"/>
            <a:ext cx="182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02936"/>
            <a:ext cx="9875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Add automated tests for signal and permission-failure cases.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59552"/>
            <a:ext cx="182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59552"/>
            <a:ext cx="9875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Add filtering, sorting, refresh, and CPU statistics.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Live Demo Plan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0292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881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AEBDD0"/>
                </a:solidFill>
                <a:latin typeface="Aptos"/>
              </a:rPr>
              <a:t>A controlled demo sequence that matches the test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AEBDD0"/>
                </a:solidFill>
                <a:latin typeface="Aptos"/>
              </a:rPr>
              <a:t>MULTI-PROCESS TASK MANAGER  •  LINUX /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83096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64208"/>
            <a:ext cx="5230368" cy="768096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2880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83080"/>
            <a:ext cx="14173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1783080"/>
            <a:ext cx="292608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AEBDD0"/>
                </a:solidFill>
                <a:latin typeface="Aptos"/>
              </a:rPr>
              <a:t>make clean &amp;&amp; make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651760"/>
            <a:ext cx="5230368" cy="768096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8163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70632"/>
            <a:ext cx="14173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770632"/>
            <a:ext cx="292608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AEBDD0"/>
                </a:solidFill>
                <a:latin typeface="Aptos"/>
              </a:rPr>
              <a:t>./task_manager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639312"/>
            <a:ext cx="5230368" cy="768096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03904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58184"/>
            <a:ext cx="14173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3758184"/>
            <a:ext cx="292608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AEBDD0"/>
                </a:solidFill>
                <a:latin typeface="Aptos"/>
              </a:rPr>
              <a:t>Choose option 1; show PID / state / memory / name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3368" y="1664208"/>
            <a:ext cx="5230368" cy="768096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82880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1783080"/>
            <a:ext cx="14173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Create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1783080"/>
            <a:ext cx="292608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AEBDD0"/>
                </a:solidFill>
                <a:latin typeface="Aptos"/>
              </a:rPr>
              <a:t>In second terminal: sleep 300 &amp;; pgrep sleep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3368" y="2651760"/>
            <a:ext cx="5230368" cy="768096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8163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2DD4B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770632"/>
            <a:ext cx="14173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2770632"/>
            <a:ext cx="292608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AEBDD0"/>
                </a:solidFill>
                <a:latin typeface="Aptos"/>
              </a:rPr>
              <a:t>Option 2 → test PID → view, stop, continue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3368" y="3639312"/>
            <a:ext cx="5230368" cy="768096"/>
          </a:xfrm>
          <a:prstGeom prst="roundRect">
            <a:avLst>
              <a:gd name="adj" fmla="val 12000"/>
            </a:avLst>
          </a:prstGeom>
          <a:solidFill>
            <a:srgbClr val="131E32"/>
          </a:solidFill>
          <a:ln>
            <a:solidFill>
              <a:srgbClr val="13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803904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2DD4B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758184"/>
            <a:ext cx="14173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Verify exit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758184"/>
            <a:ext cx="292608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DD0"/>
                </a:solidFill>
                <a:latin typeface="Aptos"/>
              </a:rPr>
              <a:t>Confirm SIGTERM with y; verify that the test PID exits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956048"/>
            <a:ext cx="10826496" cy="786384"/>
          </a:xfrm>
          <a:prstGeom prst="roundRect">
            <a:avLst>
              <a:gd name="adj" fmla="val 12000"/>
            </a:avLst>
          </a:prstGeom>
          <a:solidFill>
            <a:srgbClr val="18283F"/>
          </a:solidFill>
          <a:ln>
            <a:solidFill>
              <a:srgbClr val="18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5175504"/>
            <a:ext cx="1325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Aptos"/>
              </a:rPr>
              <a:t>TAKEAWAY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5111496"/>
            <a:ext cx="8595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A compact C prototype demonstrating Linux process inspection and basic signal-based process control.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5961888"/>
            <a:ext cx="106070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AEBDD0"/>
                </a:solidFill>
                <a:latin typeface="Aptos"/>
              </a:rPr>
              <a:t>Repository: github.com/suryakrishnabhardwaj-art/Multi-Process-Task-Manager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Multi-Process Task Manager for Linux</dc:title>
  <dc:subject>Hackathon presentation for Linux process monitoring and control</dc:subject>
  <dc:creator>Project Team</dc:creator>
  <cp:keywords>Linux, C, process manager, /proc, POSIX signals, hackathon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